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8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101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bin"/><Relationship Id="rId4" Type="http://schemas.openxmlformats.org/officeDocument/2006/relationships/image" Target="../media/image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bin"/><Relationship Id="rId3" Type="http://schemas.openxmlformats.org/officeDocument/2006/relationships/image" Target="../media/image3.bin"/><Relationship Id="rId7" Type="http://schemas.openxmlformats.org/officeDocument/2006/relationships/image" Target="../media/image1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bin"/><Relationship Id="rId5" Type="http://schemas.openxmlformats.org/officeDocument/2006/relationships/image" Target="../media/image9.bin"/><Relationship Id="rId10" Type="http://schemas.openxmlformats.org/officeDocument/2006/relationships/image" Target="../media/image14.bin"/><Relationship Id="rId4" Type="http://schemas.openxmlformats.org/officeDocument/2006/relationships/image" Target="../media/image8.bin"/><Relationship Id="rId9" Type="http://schemas.openxmlformats.org/officeDocument/2006/relationships/image" Target="../media/image1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bin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bin"/><Relationship Id="rId5" Type="http://schemas.openxmlformats.org/officeDocument/2006/relationships/image" Target="../media/image7.bin"/><Relationship Id="rId4" Type="http://schemas.openxmlformats.org/officeDocument/2006/relationships/image" Target="../media/image1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bin"/><Relationship Id="rId4" Type="http://schemas.openxmlformats.org/officeDocument/2006/relationships/image" Target="../media/image2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bin"/><Relationship Id="rId4" Type="http://schemas.openxmlformats.org/officeDocument/2006/relationships/image" Target="../media/image2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bin"/><Relationship Id="rId4" Type="http://schemas.openxmlformats.org/officeDocument/2006/relationships/image" Target="../media/image2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7" Type="http://schemas.openxmlformats.org/officeDocument/2006/relationships/image" Target="../media/image3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bin"/><Relationship Id="rId5" Type="http://schemas.openxmlformats.org/officeDocument/2006/relationships/image" Target="../media/image31.bin"/><Relationship Id="rId4" Type="http://schemas.openxmlformats.org/officeDocument/2006/relationships/image" Target="../media/image3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066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438" y="285750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765" y="2714625"/>
            <a:ext cx="8286443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363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Projeto Prático – Agente Inteligente Pedagógico Offline</a:t>
            </a:r>
            <a:endParaRPr lang="en-US" sz="2363" dirty="0"/>
          </a:p>
        </p:txBody>
      </p:sp>
      <p:sp>
        <p:nvSpPr>
          <p:cNvPr id="5" name="Text 1"/>
          <p:cNvSpPr/>
          <p:nvPr/>
        </p:nvSpPr>
        <p:spPr>
          <a:xfrm>
            <a:off x="1983060" y="3320058"/>
            <a:ext cx="517785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Disciplina: Agentes Inteligentes – T01 (2025.2 – 4T1234)</a:t>
            </a:r>
            <a:endParaRPr lang="en-US" sz="1575" dirty="0"/>
          </a:p>
        </p:txBody>
      </p:sp>
      <p:sp>
        <p:nvSpPr>
          <p:cNvPr id="6" name="Text 2"/>
          <p:cNvSpPr/>
          <p:nvPr/>
        </p:nvSpPr>
        <p:spPr>
          <a:xfrm>
            <a:off x="2130958" y="3620095"/>
            <a:ext cx="488202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Programa de Pós-Graduação em Informática – UFAL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2446260" y="4193381"/>
            <a:ext cx="425145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Autor: Edson Mario de Alcantara Júnior (2025109121)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353335" y="4521994"/>
            <a:ext cx="443730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Orientador: Prof. Dr. Baldoino Fonseca dos Santos Neto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com o Mestrado: Mediação Pedagógica com IA Generativa Offline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307306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6193" y="1247817"/>
            <a:ext cx="5237233" cy="138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just"/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Este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projeto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prático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está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diretamente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vinculado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ao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meu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projeto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mestrado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sobre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IAED-U.</a:t>
            </a:r>
          </a:p>
          <a:p>
            <a:pPr algn="just"/>
            <a:endParaRPr lang="en-US" sz="1350" b="1" dirty="0">
              <a:solidFill>
                <a:srgbClr val="333333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algn="ctr"/>
            <a:r>
              <a:rPr lang="en-US" sz="1350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sz="1350" i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Inteligência</a:t>
            </a:r>
            <a:r>
              <a:rPr lang="en-US" sz="1350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Artificial </a:t>
            </a:r>
            <a:r>
              <a:rPr lang="en-US" sz="1350" i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</a:t>
            </a:r>
            <a:r>
              <a:rPr lang="en-US" sz="1350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i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Educação</a:t>
            </a:r>
            <a:r>
              <a:rPr lang="en-US" sz="1350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i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Desplugada</a:t>
            </a:r>
            <a:r>
              <a:rPr lang="en-US" sz="1350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</a:t>
            </a:r>
            <a:endParaRPr lang="en-US" sz="1350" i="1" dirty="0"/>
          </a:p>
          <a:p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35782" y="1745144"/>
            <a:ext cx="6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500392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693" y="2434932"/>
            <a:ext cx="5144248" cy="131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just"/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proposta é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desenvolver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um </a:t>
            </a:r>
            <a:r>
              <a:rPr lang="en-US" b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agente</a:t>
            </a:r>
            <a:r>
              <a:rPr lang="en-US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b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inteligente</a:t>
            </a:r>
            <a:r>
              <a:rPr lang="en-US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simples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executável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notebook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comum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apoie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professor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elaboração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</a:t>
            </a:r>
            <a:r>
              <a:rPr lang="en-US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materiais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pedagógicos</a:t>
            </a:r>
            <a:endParaRPr lang="en-US" dirty="0"/>
          </a:p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2177086" y="2466982"/>
            <a:ext cx="91372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35781" y="2724157"/>
            <a:ext cx="4488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35781" y="2981332"/>
            <a:ext cx="46488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837428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5847" y="3769973"/>
            <a:ext cx="5124792" cy="7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protótipo inicial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foca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b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geração</a:t>
            </a:r>
            <a:r>
              <a:rPr lang="en-US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b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automática</a:t>
            </a:r>
            <a:r>
              <a:rPr lang="en-US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</a:t>
            </a:r>
            <a:r>
              <a:rPr lang="en-US" b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questões</a:t>
            </a:r>
            <a:r>
              <a:rPr lang="en-US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partir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textos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fornecidos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35781" y="3509970"/>
            <a:ext cx="3836222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609074" y="3912363"/>
            <a:ext cx="46488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3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l="38076" t="5605" b="10953"/>
          <a:stretch>
            <a:fillRect/>
          </a:stretch>
        </p:blipFill>
        <p:spPr>
          <a:xfrm>
            <a:off x="6343891" y="1304131"/>
            <a:ext cx="2211856" cy="1676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864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Justificativa e Objetivos do Projeto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Justificativa:</a:t>
            </a:r>
            <a:endParaRPr lang="en-US" sz="157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328738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1494" y="1324141"/>
            <a:ext cx="5626757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Reduzir tempo de preparação de aulas e avaliações.</a:t>
            </a: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784855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1494" y="1733163"/>
            <a:ext cx="591414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Oferecer rascunhos de questões para revisão docente.</a:t>
            </a:r>
            <a:endParaRPr lang="en-US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250281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1494" y="2183219"/>
            <a:ext cx="7037546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Promover uso responsável de IA generativa, offline e acessível.</a:t>
            </a: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285750" y="2662573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Objetivos:</a:t>
            </a:r>
            <a:endParaRPr lang="en-US" sz="1575" dirty="0"/>
          </a:p>
        </p:txBody>
      </p:sp>
      <p:sp>
        <p:nvSpPr>
          <p:cNvPr id="12" name="Text 6"/>
          <p:cNvSpPr/>
          <p:nvPr/>
        </p:nvSpPr>
        <p:spPr>
          <a:xfrm>
            <a:off x="285750" y="3000101"/>
            <a:ext cx="41790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 Geral:</a:t>
            </a:r>
            <a:endParaRPr lang="en-US" sz="1238" dirty="0"/>
          </a:p>
        </p:txBody>
      </p:sp>
      <p:sp>
        <p:nvSpPr>
          <p:cNvPr id="13" name="Text 7"/>
          <p:cNvSpPr/>
          <p:nvPr/>
        </p:nvSpPr>
        <p:spPr>
          <a:xfrm>
            <a:off x="464343" y="3310451"/>
            <a:ext cx="7634627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Implementar um agente pedagógico offline capaz de gerar questões a partir de textos.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285750" y="3973009"/>
            <a:ext cx="41790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Objetivos Específicos:</a:t>
            </a:r>
            <a:endParaRPr lang="en-US" sz="1238" dirty="0"/>
          </a:p>
        </p:txBody>
      </p:sp>
      <p:sp>
        <p:nvSpPr>
          <p:cNvPr id="15" name="Text 9"/>
          <p:cNvSpPr/>
          <p:nvPr/>
        </p:nvSpPr>
        <p:spPr>
          <a:xfrm>
            <a:off x="285750" y="4429125"/>
            <a:ext cx="13534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FF99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</a:t>
            </a:r>
            <a:endParaRPr lang="en-US" sz="1238" dirty="0"/>
          </a:p>
        </p:txBody>
      </p:sp>
      <p:sp>
        <p:nvSpPr>
          <p:cNvPr id="16" name="Text 10"/>
          <p:cNvSpPr/>
          <p:nvPr/>
        </p:nvSpPr>
        <p:spPr>
          <a:xfrm>
            <a:off x="492528" y="4408497"/>
            <a:ext cx="565572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Testar modelo leve (TinyLlama) em notebook</a:t>
            </a: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285750" y="4772025"/>
            <a:ext cx="14382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FF99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b)</a:t>
            </a:r>
            <a:endParaRPr lang="en-US" sz="1238" dirty="0"/>
          </a:p>
        </p:txBody>
      </p:sp>
      <p:sp>
        <p:nvSpPr>
          <p:cNvPr id="18" name="Text 12"/>
          <p:cNvSpPr/>
          <p:nvPr/>
        </p:nvSpPr>
        <p:spPr>
          <a:xfrm>
            <a:off x="501011" y="4751398"/>
            <a:ext cx="4619629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Criar fluxo: texto → perguntas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285750" y="5114925"/>
            <a:ext cx="12258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FF99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c)</a:t>
            </a:r>
            <a:endParaRPr lang="en-US" sz="1238" dirty="0"/>
          </a:p>
        </p:txBody>
      </p:sp>
      <p:sp>
        <p:nvSpPr>
          <p:cNvPr id="20" name="Text 14"/>
          <p:cNvSpPr/>
          <p:nvPr/>
        </p:nvSpPr>
        <p:spPr>
          <a:xfrm>
            <a:off x="479775" y="5094298"/>
            <a:ext cx="471122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Validar utilidade pedagógica das perguntas</a:t>
            </a: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285750" y="5457825"/>
            <a:ext cx="14382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FF99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d)</a:t>
            </a:r>
            <a:endParaRPr lang="en-US" sz="1238" dirty="0"/>
          </a:p>
        </p:txBody>
      </p:sp>
      <p:sp>
        <p:nvSpPr>
          <p:cNvPr id="22" name="Text 16"/>
          <p:cNvSpPr/>
          <p:nvPr/>
        </p:nvSpPr>
        <p:spPr>
          <a:xfrm>
            <a:off x="501011" y="5457825"/>
            <a:ext cx="261676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Documentar e identificar melhorias</a:t>
            </a:r>
            <a:endParaRPr lang="en-US" sz="123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Metodologia e Tecnologias Utilizadas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Metodologia:</a:t>
            </a:r>
            <a:endParaRPr lang="en-US" sz="1575" dirty="0"/>
          </a:p>
        </p:txBody>
      </p:sp>
      <p:sp>
        <p:nvSpPr>
          <p:cNvPr id="5" name="Shape 2"/>
          <p:cNvSpPr/>
          <p:nvPr/>
        </p:nvSpPr>
        <p:spPr>
          <a:xfrm>
            <a:off x="285750" y="1293019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285750" y="129301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238" dirty="0"/>
          </a:p>
        </p:txBody>
      </p:sp>
      <p:sp>
        <p:nvSpPr>
          <p:cNvPr id="7" name="Text 4"/>
          <p:cNvSpPr/>
          <p:nvPr/>
        </p:nvSpPr>
        <p:spPr>
          <a:xfrm>
            <a:off x="607219" y="1272392"/>
            <a:ext cx="490358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Preparação do ambiente (Miniconda, Jupyter)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285750" y="1635919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85750" y="163591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607219" y="1615292"/>
            <a:ext cx="452688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Instalação do Ollama e modelo TinyLlama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85750" y="1978819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85750" y="197881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238" dirty="0"/>
          </a:p>
        </p:txBody>
      </p:sp>
      <p:sp>
        <p:nvSpPr>
          <p:cNvPr id="13" name="Text 10"/>
          <p:cNvSpPr/>
          <p:nvPr/>
        </p:nvSpPr>
        <p:spPr>
          <a:xfrm>
            <a:off x="607219" y="1958192"/>
            <a:ext cx="450604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Criação de notebook com funções Python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285750" y="2321719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285750" y="232171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607219" y="2301092"/>
            <a:ext cx="375904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Validação das saídas e teste offline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85750" y="2664619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Tecnologias:</a:t>
            </a:r>
            <a:endParaRPr lang="en-US" sz="1575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109538"/>
            <a:ext cx="125016" cy="1428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7922" y="3018114"/>
            <a:ext cx="471443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Linguagem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</a:t>
            </a:r>
            <a:r>
              <a:rPr lang="en-US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básico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código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pronto)</a:t>
            </a: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439716"/>
            <a:ext cx="178594" cy="1428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71500" y="3372654"/>
            <a:ext cx="322363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Ambiente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</a:t>
            </a:r>
            <a:r>
              <a:rPr lang="en-US" b="1" dirty="0" err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Jupyter</a:t>
            </a:r>
            <a:r>
              <a:rPr lang="en-US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Notebook</a:t>
            </a: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3761184"/>
            <a:ext cx="142875" cy="1428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5781" y="3694123"/>
            <a:ext cx="2510303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Executor local: </a:t>
            </a:r>
            <a:r>
              <a:rPr lang="en-US" b="1" dirty="0" err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Ollama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4082653"/>
            <a:ext cx="142875" cy="14287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5781" y="4015591"/>
            <a:ext cx="422872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</a:t>
            </a:r>
            <a:r>
              <a:rPr lang="en-US" b="1" dirty="0" err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TinyLlama</a:t>
            </a:r>
            <a:r>
              <a:rPr lang="en-US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1.1B 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offline) </a:t>
            </a:r>
            <a:endParaRPr lang="en-US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" y="4404122"/>
            <a:ext cx="125016" cy="1428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17922" y="4318277"/>
            <a:ext cx="4595339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Gerenciador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</a:t>
            </a:r>
            <a:r>
              <a:rPr lang="en-US" b="1" dirty="0" err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Miniconda</a:t>
            </a:r>
            <a:r>
              <a:rPr lang="en-US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sz="1600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não</a:t>
            </a: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usa</a:t>
            </a: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LangChain</a:t>
            </a: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</a:t>
            </a:r>
            <a:r>
              <a:rPr lang="en-US" sz="1600" b="1" dirty="0"/>
              <a:t> </a:t>
            </a: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2335364" y="4380309"/>
            <a:ext cx="6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238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2894" y="769561"/>
            <a:ext cx="2143125" cy="2143125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1387" y="3291399"/>
            <a:ext cx="3214632" cy="13039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2955"/>
            <a:ext cx="9144000" cy="56792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Escolha por Simplicidade: Miniconda em vez de LangChain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97821" y="955996"/>
            <a:ext cx="782727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documento inicial mencionava LangChain como opção, mas optamos por não utilizá-lo.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85750" y="1230417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Motivos:</a:t>
            </a:r>
            <a:endParaRPr lang="en-US" sz="1575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734288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495" y="1662007"/>
            <a:ext cx="4228969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just"/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LangChain é um framework </a:t>
            </a:r>
            <a:r>
              <a:rPr lang="en-US" sz="1600" b="1" dirty="0" err="1">
                <a:solidFill>
                  <a:srgbClr val="FF99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complexo</a:t>
            </a: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com </a:t>
            </a:r>
            <a:r>
              <a:rPr lang="en-US" sz="1600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muitas</a:t>
            </a: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dependências</a:t>
            </a: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  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21494" y="2051850"/>
            <a:ext cx="6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238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356481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9708" y="2286641"/>
            <a:ext cx="3943350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 o MVP (Produto Mínimo Viável), não era necessário.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285750" y="2787876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Nossa Abordagem:</a:t>
            </a:r>
            <a:endParaRPr lang="en-US" sz="1575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272647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494" y="3218498"/>
            <a:ext cx="3943350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Usamos código Python puro + biblioteca ollama, o que torna o sistema: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55799"/>
            <a:ext cx="112514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1170" y="3907013"/>
            <a:ext cx="892873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Mais leve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46446"/>
            <a:ext cx="112514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89385" y="4175555"/>
            <a:ext cx="3796666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Mais fácil de entender (especialmente para quem não programa)</a:t>
            </a:r>
            <a:endParaRPr lang="en-US" sz="16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72838"/>
            <a:ext cx="112514" cy="128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91170" y="4748858"/>
            <a:ext cx="4337726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Totalmente replicável em qualquer notebook</a:t>
            </a:r>
            <a:endParaRPr lang="en-US" sz="1600" dirty="0"/>
          </a:p>
        </p:txBody>
      </p:sp>
      <p:pic>
        <p:nvPicPr>
          <p:cNvPr id="23" name="Imagem 2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462CB5F3-EC2F-0668-D7CA-CB998A97440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669" t="3020" r="4066" b="40462"/>
          <a:stretch>
            <a:fillRect/>
          </a:stretch>
        </p:blipFill>
        <p:spPr bwMode="auto">
          <a:xfrm>
            <a:off x="5434279" y="1404472"/>
            <a:ext cx="3269368" cy="144189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Imagem 23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90553DD3-2B42-830B-408F-3CAC5E21EE3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38117"/>
          <a:stretch>
            <a:fillRect/>
          </a:stretch>
        </p:blipFill>
        <p:spPr bwMode="auto">
          <a:xfrm>
            <a:off x="5434279" y="3325000"/>
            <a:ext cx="3268476" cy="11561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MVP: Gerando Questões Offline com Privacidade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MVP é um protótipo funcional que:</a:t>
            </a:r>
            <a:endParaRPr lang="en-US" sz="157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364456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5781" y="1318826"/>
            <a:ext cx="5030223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Recebe um texto curto (ex.: parágrafo de livro)</a:t>
            </a: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728788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5781" y="1683157"/>
            <a:ext cx="370934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Gera 3 a 5 perguntas relacionadas</a:t>
            </a:r>
            <a:endParaRPr lang="en-US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093119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35781" y="2047488"/>
            <a:ext cx="307936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Roda completamente offline</a:t>
            </a: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285750" y="2421731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Vantagens-chave:</a:t>
            </a:r>
            <a:endParaRPr lang="en-US" sz="1575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907506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64356" y="2854732"/>
            <a:ext cx="1869101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Tudo roda offline</a:t>
            </a:r>
            <a:endParaRPr lang="en-US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400425"/>
            <a:ext cx="171450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64356" y="3209151"/>
            <a:ext cx="3900488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Dados não saem do computador (privacidade garantida)</a:t>
            </a:r>
            <a:endParaRPr lang="en-US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893344"/>
            <a:ext cx="171450" cy="1714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64356" y="3840569"/>
            <a:ext cx="3377528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Funciona em notebook comum</a:t>
            </a:r>
            <a:endParaRPr lang="en-US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257675"/>
            <a:ext cx="171450" cy="17145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64356" y="4204901"/>
            <a:ext cx="2938305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Código simples e replicável</a:t>
            </a:r>
            <a:endParaRPr lang="en-US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6681122C-05A5-1F50-3DDC-5C53788C15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2967" y="1580945"/>
            <a:ext cx="4156714" cy="3052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 o Agente Funciona na Prática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Passo a passo:</a:t>
            </a:r>
            <a:endParaRPr lang="en-US" sz="1575" dirty="0"/>
          </a:p>
        </p:txBody>
      </p:sp>
      <p:sp>
        <p:nvSpPr>
          <p:cNvPr id="5" name="Shape 2"/>
          <p:cNvSpPr/>
          <p:nvPr/>
        </p:nvSpPr>
        <p:spPr>
          <a:xfrm>
            <a:off x="285750" y="1321594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285750" y="132159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601219" y="1272392"/>
            <a:ext cx="4754507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Abro o Jupyter com o ambiente iaed ativado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285750" y="1707356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85750" y="170735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601219" y="1658154"/>
            <a:ext cx="4413068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Cole um trecho de texto (ex.: de um PDF)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85750" y="2093119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85750" y="209311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571500" y="2093119"/>
            <a:ext cx="4484587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Executo a célula → o modelo gera as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perguntas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segundos</a:t>
            </a: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85750" y="2757488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Personalização:</a:t>
            </a:r>
            <a:endParaRPr lang="en-US" sz="1575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218259"/>
            <a:ext cx="128588" cy="128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494" y="3144054"/>
            <a:ext cx="4493218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Professor pode alterar o texto de entrada</a:t>
            </a: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525441"/>
            <a:ext cx="128588" cy="128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494" y="3451236"/>
            <a:ext cx="411330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Pode ajustar as instruções para gerar:</a:t>
            </a: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32622"/>
            <a:ext cx="128588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7244" y="3758417"/>
            <a:ext cx="157414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Planos de aula</a:t>
            </a:r>
            <a:endParaRPr lang="en-US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39803"/>
            <a:ext cx="128588" cy="128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7244" y="4065598"/>
            <a:ext cx="2265044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Feedback a redações</a:t>
            </a:r>
            <a:endParaRPr lang="en-US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46984"/>
            <a:ext cx="128588" cy="128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7244" y="4372779"/>
            <a:ext cx="1695977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didática</a:t>
            </a:r>
            <a:endParaRPr lang="en-US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E63A2E9A-BBC1-334E-900A-BB21419914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5726" y="885825"/>
            <a:ext cx="3715268" cy="213389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D0DD7BE3-EF88-1939-E8B2-BAB741BFD5D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3842"/>
          <a:stretch>
            <a:fillRect/>
          </a:stretch>
        </p:blipFill>
        <p:spPr>
          <a:xfrm>
            <a:off x="5278208" y="3164733"/>
            <a:ext cx="3715268" cy="15929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Resultados Alcançados e Limitações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Resultados:</a:t>
            </a:r>
            <a:endParaRPr lang="en-US" sz="157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328738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1494" y="1272392"/>
            <a:ext cx="4600618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Protótipo funcionando: texto → perguntas</a:t>
            </a: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671638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1494" y="1615292"/>
            <a:ext cx="4605428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Geração de questões úteis como rascunho</a:t>
            </a:r>
            <a:endParaRPr lang="en-US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014538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1494" y="1958192"/>
            <a:ext cx="411490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 de resposta rápido (segundos)</a:t>
            </a: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285750" y="2321719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Limitações:</a:t>
            </a:r>
            <a:endParaRPr lang="en-US" sz="1575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764631"/>
            <a:ext cx="128588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21494" y="2708286"/>
            <a:ext cx="4432304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Qualidade do modelo leve em português</a:t>
            </a:r>
            <a:endParaRPr lang="en-US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107531"/>
            <a:ext cx="128588" cy="1285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21494" y="3051186"/>
            <a:ext cx="348012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Necessidade de revisão docente</a:t>
            </a:r>
            <a:endParaRPr lang="en-US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450431"/>
            <a:ext cx="128588" cy="12858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21494" y="3394086"/>
            <a:ext cx="4560544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Escopo inicial restrito a perguntas simples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Conclusão e Próximos Passos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Conclusão: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285750" y="1357547"/>
            <a:ext cx="8030936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agente pedagógico offline foi implementado com sucesso, demonstrando o potencial da IA generativa para apoiar professores de forma simples, rápida e privada. 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85750" y="2431666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Próximos Passos:</a:t>
            </a:r>
            <a:endParaRPr lang="en-US" sz="157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874578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494" y="2818232"/>
            <a:ext cx="385842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Leitura automática de arquivos PDF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217478"/>
            <a:ext cx="128588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1494" y="3161132"/>
            <a:ext cx="340157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Interface gráfica (ex.: Streamlit)</a:t>
            </a:r>
            <a:endParaRPr lang="en-US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560378"/>
            <a:ext cx="128588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1494" y="3504032"/>
            <a:ext cx="539250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trike="sngStrike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Teste com modelos maiores (ex.: Mistral, Llama 3)</a:t>
            </a:r>
            <a:endParaRPr lang="en-US" strike="sngStrike" dirty="0">
              <a:solidFill>
                <a:srgbClr val="FF0000"/>
              </a:solidFill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903278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1494" y="3846932"/>
            <a:ext cx="558165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Expansão para outras funcionalidades pedagógicas</a:t>
            </a:r>
            <a:endParaRPr lang="en-US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4246178"/>
            <a:ext cx="128588" cy="128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21493" y="4307703"/>
            <a:ext cx="631473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Validação com mais professores em contextos diversos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Referências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921544"/>
            <a:ext cx="112514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8295" y="885825"/>
            <a:ext cx="378083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ISOTANI, S. et al. AIED Unplugged: Leapfrogging the Digital Divide to Reach the Underserved. Springer, 2023. </a:t>
            </a:r>
            <a:endParaRPr lang="en-US" sz="1046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493044"/>
            <a:ext cx="112514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8295" y="1457325"/>
            <a:ext cx="378083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RODRIGUES, L. et al. MathAIde: A Qualitative Study of Teachers' Perceptions of an ITS Unplugged. IJAIED, 2024. </a:t>
            </a:r>
            <a:endParaRPr lang="en-US" sz="1046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278856"/>
            <a:ext cx="96441" cy="1285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32222" y="2243138"/>
            <a:ext cx="37969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IA.EDU/NEES. Nota Técnica: IA Desplugada na Educação. UFAL, 2025. </a:t>
            </a:r>
            <a:endParaRPr lang="en-US" sz="1046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850356"/>
            <a:ext cx="160734" cy="12858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96516" y="2814638"/>
            <a:ext cx="37326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TinyLlama Project. TinyLlama 1.1B Chat. HuggingFace, 2023. </a:t>
            </a:r>
            <a:endParaRPr lang="en-US" sz="1046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921544"/>
            <a:ext cx="128588" cy="12858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950619" y="894755"/>
            <a:ext cx="28270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Jupyter. Jupyter Notebook Documentation. </a:t>
            </a:r>
            <a:endParaRPr lang="en-US" sz="1046" dirty="0"/>
          </a:p>
        </p:txBody>
      </p:sp>
      <p:sp>
        <p:nvSpPr>
          <p:cNvPr id="14" name="Text 6"/>
          <p:cNvSpPr/>
          <p:nvPr/>
        </p:nvSpPr>
        <p:spPr>
          <a:xfrm>
            <a:off x="4950619" y="1109067"/>
            <a:ext cx="15635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u="sng" dirty="0">
                <a:solidFill>
                  <a:srgbClr val="0066CC"/>
                </a:solidFill>
                <a:uFill>
                  <a:solidFill>
                    <a:srgbClr val="0066CC"/>
                  </a:solidFill>
                </a:u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https://docs.jupyter.org</a:t>
            </a:r>
            <a:endParaRPr lang="en-US" sz="1046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493044"/>
            <a:ext cx="128588" cy="12858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950619" y="1466255"/>
            <a:ext cx="22788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Anaconda. Miniconda Installation. </a:t>
            </a:r>
            <a:endParaRPr lang="en-US" sz="1046" dirty="0"/>
          </a:p>
        </p:txBody>
      </p:sp>
      <p:sp>
        <p:nvSpPr>
          <p:cNvPr id="17" name="Text 8"/>
          <p:cNvSpPr/>
          <p:nvPr/>
        </p:nvSpPr>
        <p:spPr>
          <a:xfrm>
            <a:off x="4950619" y="1680567"/>
            <a:ext cx="29616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u="sng" dirty="0">
                <a:solidFill>
                  <a:srgbClr val="0066CC"/>
                </a:solidFill>
                <a:uFill>
                  <a:solidFill>
                    <a:srgbClr val="0066CC"/>
                  </a:solidFill>
                </a:u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https://docs.anaconda.com/free/miniconda/</a:t>
            </a:r>
            <a:endParaRPr lang="en-US" sz="1046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2064544"/>
            <a:ext cx="128588" cy="12858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950619" y="2037755"/>
            <a:ext cx="219142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Ollama. Ollama Documentation. </a:t>
            </a:r>
            <a:endParaRPr lang="en-US" sz="1046" dirty="0"/>
          </a:p>
        </p:txBody>
      </p:sp>
      <p:sp>
        <p:nvSpPr>
          <p:cNvPr id="20" name="Text 10"/>
          <p:cNvSpPr/>
          <p:nvPr/>
        </p:nvSpPr>
        <p:spPr>
          <a:xfrm>
            <a:off x="7142048" y="2037755"/>
            <a:ext cx="132647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u="sng" dirty="0">
                <a:solidFill>
                  <a:srgbClr val="0066CC"/>
                </a:solidFill>
                <a:uFill>
                  <a:solidFill>
                    <a:srgbClr val="0066CC"/>
                  </a:solidFill>
                </a:u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https://ollama.com/</a:t>
            </a:r>
            <a:endParaRPr lang="en-US" sz="10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742</Words>
  <Application>Microsoft Office PowerPoint</Application>
  <PresentationFormat>Apresentação na tela (16:9)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Noto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Edson Mario de Alcantara Junior</cp:lastModifiedBy>
  <cp:revision>17</cp:revision>
  <dcterms:created xsi:type="dcterms:W3CDTF">2025-10-08T14:20:24Z</dcterms:created>
  <dcterms:modified xsi:type="dcterms:W3CDTF">2025-11-05T17:33:23Z</dcterms:modified>
</cp:coreProperties>
</file>